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82880" cy="3474720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DDA24"/>
                </a:solidFill>
              </a:defRPr>
            </a:pPr>
            <a:r>
              <a:t>GERENCIA DE EVOLUCIÓN CONTABLE Y TRIBUTARIA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Conciliador de Facturas y Retenciones</a:t>
            </a:r>
          </a:p>
          <a:p>
            <a:pPr>
              <a:spcBef>
                <a:spcPts val="800"/>
              </a:spcBef>
              <a:defRPr sz="1800">
                <a:solidFill>
                  <a:srgbClr val="DCDCDC"/>
                </a:solidFill>
              </a:defRPr>
            </a:pPr>
            <a:r>
              <a:t>Automatización y Cruce Mensual entre Proveedores y Registros Contables</a:t>
            </a:r>
          </a:p>
          <a:p>
            <a:pPr>
              <a:spcBef>
                <a:spcPts val="2800"/>
              </a:spcBef>
              <a:defRPr sz="1300">
                <a:solidFill>
                  <a:srgbClr val="FDDA24"/>
                </a:solidFill>
              </a:defRPr>
            </a:pPr>
            <a:r>
              <a:t>Prueba Técnica – Analista III · Prototipo Funcional de Alta Precisión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DA24"/>
                </a:solidFill>
              </a:defRPr>
            </a:pPr>
            <a:r>
              <a:t>GERENCIA DE EVOLUCIÓN CONTABLE Y TRIBUTARIA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Desafío Operativo y Objetivo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Conciliador de Facturas y Retenciones · Prueba Técnica Analista III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A29"/>
                </a:solidFill>
              </a:defRPr>
            </a:pPr>
            <a:r>
              <a:t>El Problema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C8102E"/>
                </a:solidFill>
              </a:defRPr>
            </a:pPr>
            <a:r>
              <a:t>•  Proceso Manual y Disperso: </a:t>
            </a:r>
            <a:r>
              <a:rPr b="0">
                <a:solidFill>
                  <a:srgbClr val="2C2A29"/>
                </a:solidFill>
              </a:rPr>
              <a:t>El cruce mensual entre facturación de proveedores y libros contables demanda horas de trabajo manual repetitivo.</a:t>
            </a:r>
          </a:p>
          <a:p>
            <a:pPr>
              <a:spcBef>
                <a:spcPts val="800"/>
              </a:spcBef>
              <a:defRPr b="1" sz="1200">
                <a:solidFill>
                  <a:srgbClr val="C8102E"/>
                </a:solidFill>
              </a:defRPr>
            </a:pPr>
            <a:r>
              <a:t>•  Riesgo de Redondeo Financiero: </a:t>
            </a:r>
            <a:r>
              <a:rPr b="0">
                <a:solidFill>
                  <a:srgbClr val="2C2A29"/>
                </a:solidFill>
              </a:rPr>
              <a:t>Uso de hojas de cálculo o tipos coma flotante (float) que generan descuadres de centavos en cifras monetarias.</a:t>
            </a:r>
          </a:p>
          <a:p>
            <a:pPr>
              <a:spcBef>
                <a:spcPts val="800"/>
              </a:spcBef>
              <a:defRPr b="1" sz="1200">
                <a:solidFill>
                  <a:srgbClr val="C8102E"/>
                </a:solidFill>
              </a:defRPr>
            </a:pPr>
            <a:r>
              <a:t>•  Dificultad de Trazabilidad: </a:t>
            </a:r>
            <a:r>
              <a:rPr b="0">
                <a:solidFill>
                  <a:srgbClr val="2C2A29"/>
                </a:solidFill>
              </a:rPr>
              <a:t>Falta de un reporte unificado que aísle con precisión la causal exacta de cada diferencia.</a:t>
            </a:r>
          </a:p>
          <a:p>
            <a:pPr>
              <a:spcBef>
                <a:spcPts val="800"/>
              </a:spcBef>
              <a:defRPr b="1" sz="1200">
                <a:solidFill>
                  <a:srgbClr val="C8102E"/>
                </a:solidFill>
              </a:defRPr>
            </a:pPr>
            <a:r>
              <a:t>•  Exposición Tributaria: </a:t>
            </a:r>
            <a:r>
              <a:rPr b="0">
                <a:solidFill>
                  <a:srgbClr val="2C2A29"/>
                </a:solidFill>
              </a:rPr>
              <a:t>Riesgo de sanciones por inconsistencias en la liquidación de retenciones en la fuente y desajustes en el débito.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A29"/>
                </a:solidFill>
              </a:defRPr>
            </a:pPr>
            <a:r>
              <a:t>El Objetivo del Prototipo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00875A"/>
                </a:solidFill>
              </a:defRPr>
            </a:pPr>
            <a:r>
              <a:t>✔  Conciliación Automatizada: </a:t>
            </a:r>
            <a:r>
              <a:rPr b="0">
                <a:solidFill>
                  <a:srgbClr val="2C2A29"/>
                </a:solidFill>
              </a:rPr>
              <a:t>Carga dual de facturas.csv y contabilidad.csv con procesamiento analítico en menos de 1 segundo.</a:t>
            </a:r>
          </a:p>
          <a:p>
            <a:pPr>
              <a:spcBef>
                <a:spcPts val="800"/>
              </a:spcBef>
              <a:defRPr b="1" sz="1200">
                <a:solidFill>
                  <a:srgbClr val="00875A"/>
                </a:solidFill>
              </a:defRPr>
            </a:pPr>
            <a:r>
              <a:t>✔  Precisión Matemática Estricta: </a:t>
            </a:r>
            <a:r>
              <a:rPr b="0">
                <a:solidFill>
                  <a:srgbClr val="2C2A29"/>
                </a:solidFill>
              </a:rPr>
              <a:t>Uso exclusivo de Decimal y redondeo financiero ROUND_HALF_UP a dos decimales en todos los cálculos.</a:t>
            </a:r>
          </a:p>
          <a:p>
            <a:pPr>
              <a:spcBef>
                <a:spcPts val="800"/>
              </a:spcBef>
              <a:defRPr b="1" sz="1200">
                <a:solidFill>
                  <a:srgbClr val="00875A"/>
                </a:solidFill>
              </a:defRPr>
            </a:pPr>
            <a:r>
              <a:t>✔  Auditoría Granular de Causales: </a:t>
            </a:r>
            <a:r>
              <a:rPr b="0">
                <a:solidFill>
                  <a:srgbClr val="2C2A29"/>
                </a:solidFill>
              </a:rPr>
              <a:t>Identificación independiente de errores en IVA, total, duplicados, ausencia contable y estado pendiente.</a:t>
            </a:r>
          </a:p>
          <a:p>
            <a:pPr>
              <a:spcBef>
                <a:spcPts val="800"/>
              </a:spcBef>
              <a:defRPr b="1" sz="1200">
                <a:solidFill>
                  <a:srgbClr val="00875A"/>
                </a:solidFill>
              </a:defRPr>
            </a:pPr>
            <a:r>
              <a:t>✔  Interfaz Intuitiva en Español: </a:t>
            </a:r>
            <a:r>
              <a:rPr b="0">
                <a:solidFill>
                  <a:srgbClr val="2C2A29"/>
                </a:solidFill>
              </a:rPr>
              <a:t>Panel interactivo adaptado para el analista tributario con filtros dinámicos y alertas cromáticas.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DA24"/>
                </a:solidFill>
              </a:defRPr>
            </a:pPr>
            <a:r>
              <a:t>GERENCIA DE EVOLUCIÓN CONTABLE Y TRIBUTARIA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Arquitectura de Solución Desacoplada (Clean Code &amp; SOLID)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Conciliador de Facturas y Retenciones · Prueba Técnica Analista III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A29"/>
                </a:solidFill>
              </a:defRPr>
            </a:pPr>
            <a:r>
              <a:t>Frontend (Angular 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00">
                <a:solidFill>
                  <a:srgbClr val="2C2A29"/>
                </a:solidFill>
              </a:defRPr>
            </a:pPr>
            <a:r>
              <a:t>• Arquitectura Standalone: </a:t>
            </a:r>
            <a:r>
              <a:rPr b="0" sz="1100">
                <a:solidFill>
                  <a:srgbClr val="6B6B6B"/>
                </a:solidFill>
              </a:rPr>
              <a:t>Componentes modernos e independientes sin ngModules.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Carga y Validación: </a:t>
            </a:r>
            <a:r>
              <a:rPr b="0" sz="1100">
                <a:solidFill>
                  <a:srgbClr val="6B6B6B"/>
                </a:solidFill>
              </a:rPr>
              <a:t>Filtro previo en navegador de formato .csv y tamaño.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Dashboard Ejecutivo: </a:t>
            </a:r>
            <a:r>
              <a:rPr b="0" sz="1100">
                <a:solidFill>
                  <a:srgbClr val="6B6B6B"/>
                </a:solidFill>
              </a:rPr>
              <a:t>Métricas porcentuales y tabla interactiva con filtros dinámicos.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Diseño Corporativo: </a:t>
            </a:r>
            <a:r>
              <a:rPr b="0" sz="1100">
                <a:solidFill>
                  <a:srgbClr val="6B6B6B"/>
                </a:solidFill>
              </a:rPr>
              <a:t>Tokens SCSS en paleta institucional, accesible y responsivo.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A29"/>
                </a:solidFill>
              </a:defRPr>
            </a:pPr>
            <a:r>
              <a:t>Backend (Python / FastAPI)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00">
                <a:solidFill>
                  <a:srgbClr val="2C2A29"/>
                </a:solidFill>
              </a:defRPr>
            </a:pPr>
            <a:r>
              <a:t>• API REST Asíncrona: </a:t>
            </a:r>
            <a:r>
              <a:rPr b="0" sz="1100">
                <a:solidFill>
                  <a:srgbClr val="6B6B6B"/>
                </a:solidFill>
              </a:rPr>
              <a:t>Controladores desacoplados con validación Pydantic.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Servicio de Aplicación: </a:t>
            </a:r>
            <a:r>
              <a:rPr b="0" sz="1100">
                <a:solidFill>
                  <a:srgbClr val="6B6B6B"/>
                </a:solidFill>
              </a:rPr>
              <a:t>Inyección de dependencias mediante Depends().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Ingesta Resiliente: </a:t>
            </a:r>
            <a:r>
              <a:rPr b="0" sz="1100">
                <a:solidFill>
                  <a:srgbClr val="6B6B6B"/>
                </a:solidFill>
              </a:rPr>
              <a:t>Autodetección de delimitadores (',', ';', '\t') y encoding UTF-8/Latin-1.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Observabilidad: </a:t>
            </a:r>
            <a:r>
              <a:rPr b="0" sz="1100">
                <a:solidFill>
                  <a:srgbClr val="6B6B6B"/>
                </a:solidFill>
              </a:rPr>
              <a:t>Middleware de tiempos X-Process-Time y logging estructurado.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91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A29"/>
                </a:solidFill>
              </a:defRPr>
            </a:pPr>
            <a:r>
              <a:t>Motor de Reglas Contables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4884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100">
                <a:solidFill>
                  <a:srgbClr val="2C2A29"/>
                </a:solidFill>
              </a:defRPr>
            </a:pPr>
            <a:r>
              <a:t>• Patrón de Reglas Modulares: </a:t>
            </a:r>
            <a:r>
              <a:rPr b="0" sz="1100">
                <a:solidFill>
                  <a:srgbClr val="6B6B6B"/>
                </a:solidFill>
              </a:rPr>
              <a:t>Cada regla contable encapsulada bajo Principio Abierto/Cerrado.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Aritmética Exacta: </a:t>
            </a:r>
            <a:r>
              <a:rPr b="0" sz="1100">
                <a:solidFill>
                  <a:srgbClr val="6B6B6B"/>
                </a:solidFill>
              </a:rPr>
              <a:t>Uso de Decimal con ROUND_HALF_UP financiero.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No Propagación: </a:t>
            </a:r>
            <a:r>
              <a:rPr b="0" sz="1100">
                <a:solidFill>
                  <a:srgbClr val="6B6B6B"/>
                </a:solidFill>
              </a:rPr>
              <a:t>Cálculo de total con IVA esperado para aislar distorsiones.</a:t>
            </a:r>
          </a:p>
          <a:p>
            <a:pPr>
              <a:spcBef>
                <a:spcPts val="800"/>
              </a:spcBef>
              <a:defRPr b="1" sz="1100">
                <a:solidFill>
                  <a:srgbClr val="2C2A29"/>
                </a:solidFill>
              </a:defRPr>
            </a:pPr>
            <a:r>
              <a:t>• Batería de Pruebas: </a:t>
            </a:r>
            <a:r>
              <a:rPr b="0" sz="1100">
                <a:solidFill>
                  <a:srgbClr val="6B6B6B"/>
                </a:solidFill>
              </a:rPr>
              <a:t>43 tests en Pytest y 21 en Jasmine/Karma (100% de éxito).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DA24"/>
                </a:solidFill>
              </a:defRPr>
            </a:pPr>
            <a:r>
              <a:t>GERENCIA DE EVOLUCIÓN CONTABLE Y TRIBUTARIA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Reglas de Negocio y Auditoría Contable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Conciliador de Facturas y Retenciones · Prueba Técnica Analista III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566160"/>
                <a:gridCol w="4572000"/>
              </a:tblGrid>
              <a:tr h="746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DDA24"/>
                          </a:solidFill>
                        </a:defRPr>
                      </a:pPr>
                      <a:r>
                        <a:t>Regla Contable</a:t>
                      </a:r>
                    </a:p>
                  </a:txBody>
                  <a:tcPr>
                    <a:solidFill>
                      <a:srgbClr val="2C2A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DDA24"/>
                          </a:solidFill>
                        </a:defRPr>
                      </a:pPr>
                      <a:r>
                        <a:t>Fórmula / Criterio Aplicado</a:t>
                      </a:r>
                    </a:p>
                  </a:txBody>
                  <a:tcPr>
                    <a:solidFill>
                      <a:srgbClr val="2C2A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DDA24"/>
                          </a:solidFill>
                        </a:defRPr>
                      </a:pPr>
                      <a:r>
                        <a:t>Propósito de Auditoría Tributaria</a:t>
                      </a:r>
                    </a:p>
                  </a:txBody>
                  <a:tcPr>
                    <a:solidFill>
                      <a:srgbClr val="2C2A29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A29"/>
                          </a:solidFill>
                        </a:defRPr>
                      </a:pPr>
                      <a:r>
                        <a:t>1. IVA Esperado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Base Gravable × Tarifa IVA</a:t>
                      </a:r>
                      <a:br/>
                      <a:r>
                        <a:t>|IVA rep - IVA esp| &gt; 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Detecta tarifas erróneas o cálculos imprecisos del proveedor.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A29"/>
                          </a:solidFill>
                        </a:defRPr>
                      </a:pPr>
                      <a:r>
                        <a:t>2. Retención y 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Total = Base + IVA esp - Retención</a:t>
                      </a:r>
                      <a:br/>
                      <a:r>
                        <a:t>(Usa IVA teórico para no arrastrar error)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Garantiza que errores en IVA no maquillen ni compensen el total facturado.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A29"/>
                          </a:solidFill>
                        </a:defRPr>
                      </a:pPr>
                      <a:r>
                        <a:t>3. Detección de Duplicados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Frecuencia &gt; 1 en id_factura</a:t>
                      </a:r>
                      <a:br/>
                      <a:r>
                        <a:t>(Sin exclusión silenciosa de filas)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Evita dobles pagos y permite auditar ambas apariciones repetidas.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A29"/>
                          </a:solidFill>
                        </a:defRPr>
                      </a:pPr>
                      <a:r>
                        <a:t>4. Cruce Contable y Débito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Cruce id_factura en contabilidad y</a:t>
                      </a:r>
                      <a:br/>
                      <a:r>
                        <a:t>Total Factura == Valor Débito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Detecta facturas sin contabilizar o con descuadre en el débito registrado.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C2A29"/>
                          </a:solidFill>
                        </a:defRPr>
                      </a:pPr>
                      <a:r>
                        <a:t>5. Estado de Contabilización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Auditoría de estado == 'Pendiente'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2A29"/>
                          </a:solidFill>
                        </a:defRPr>
                      </a:pPr>
                      <a:r>
                        <a:t>Alerta sobre asientos contables en borrador que impiden el cierre fiscal.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DA24"/>
                </a:solidFill>
              </a:defRPr>
            </a:pPr>
            <a:r>
              <a:t>GERENCIA DE EVOLUCIÓN CONTABLE Y TRIBUTARIA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 Resultados Obtenidos en el Lote de Prueba (50 Facturas)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Conciliador de Facturas y Retenciones · Prueba Técnica Analista III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1188720"/>
          </a:xfrm>
          <a:prstGeom prst="roundRect">
            <a:avLst/>
          </a:prstGeom>
          <a:solidFill>
            <a:srgbClr val="2C2A29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DDA24"/>
                </a:solidFill>
              </a:defRPr>
            </a:pPr>
            <a:r>
              <a:t>TOTAL ANALIZADAS: 50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100% de registros procesados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875A"/>
                </a:solidFill>
              </a:defRPr>
            </a:pPr>
            <a:r>
              <a:t>CORRECTAS: 32 (64%)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Cero inconsistencias detectadas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C8102E"/>
                </a:solidFill>
              </a:defRPr>
            </a:pPr>
            <a:r>
              <a:t>CON DISCREPANCIA: 18 (36%)</a:t>
            </a:r>
          </a:p>
          <a:p>
            <a:pPr>
              <a:defRPr sz="1100">
                <a:solidFill>
                  <a:srgbClr val="6B6B6B"/>
                </a:solidFill>
              </a:defRPr>
            </a:pPr>
            <a:r>
              <a:t>Requieren plan de acción contable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28346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640080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DDA24"/>
                          </a:solidFill>
                        </a:defRPr>
                      </a:pPr>
                      <a:r>
                        <a:t>Causa de Inconsistencia</a:t>
                      </a:r>
                    </a:p>
                  </a:txBody>
                  <a:tcPr>
                    <a:solidFill>
                      <a:srgbClr val="2C2A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DDA24"/>
                          </a:solidFill>
                        </a:defRPr>
                      </a:pPr>
                      <a:r>
                        <a:t>Afectadas</a:t>
                      </a:r>
                    </a:p>
                  </a:txBody>
                  <a:tcPr>
                    <a:solidFill>
                      <a:srgbClr val="2C2A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DDA24"/>
                          </a:solidFill>
                        </a:defRPr>
                      </a:pPr>
                      <a:r>
                        <a:t>Ejemplos y Facturas Detectadas</a:t>
                      </a:r>
                    </a:p>
                  </a:txBody>
                  <a:tcPr>
                    <a:solidFill>
                      <a:srgbClr val="2C2A2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Diferencia en 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2 facturas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A29"/>
                          </a:solidFill>
                        </a:defRPr>
                      </a:pPr>
                      <a:r>
                        <a:t>FAC-0006 ($215.000 reportado vs $190.000 esperado), FAC-0018 ($645.500 vs $655.500).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Diferencia en Total Facturado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3 facturas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A29"/>
                          </a:solidFill>
                        </a:defRPr>
                      </a:pPr>
                      <a:r>
                        <a:t>FAC-0009 ($4.484.000 vs $4.524.000), FAC-0023, FAC-0036.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Facturas Duplicadas / Cruce Débito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4 filas (2 IDs)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A29"/>
                          </a:solidFill>
                        </a:defRPr>
                      </a:pPr>
                      <a:r>
                        <a:t>FAC-0004 (Fila 50: $2.213.500 vs débito $3.659.250), FAC-0015 (Fila 51 vs débito).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Sin Registro en Contabilidad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4 facturas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A29"/>
                          </a:solidFill>
                        </a:defRPr>
                      </a:pPr>
                      <a:r>
                        <a:t>FAC-0007, FAC-0021, FAC-0034, FAC-0042 (sin asiento registrado).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Registro Contable en Estado 'Pendiente'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3 facturas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A29"/>
                          </a:solidFill>
                        </a:defRPr>
                      </a:pPr>
                      <a:r>
                        <a:t>FAC-0011, FAC-0027, FAC-0039 (asientos no asentados definitivamente).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Campos Obligatorios Vacíos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C2A29"/>
                          </a:solidFill>
                        </a:defRPr>
                      </a:pPr>
                      <a:r>
                        <a:t>3 facturas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A29"/>
                          </a:solidFill>
                        </a:defRPr>
                      </a:pPr>
                      <a:r>
                        <a:t>FAC-0013 (sin NIT), FAC-0029 (sin concepto), FAC-0042 (sin fecha).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B6B6B"/>
                </a:solidFill>
              </a:defRPr>
            </a:pPr>
            <a:r>
              <a:t>* Nota de auditoría: La suma de causales (19) difiere del total de facturas físicas con discrepancia (18) porque la factura FAC-0042 presenta dos inconsistencias simultáneas (sin asiento contable y fecha de factura vacía).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73152"/>
          </a:xfrm>
          <a:prstGeom prst="rect">
            <a:avLst/>
          </a:prstGeom>
          <a:solidFill>
            <a:srgbClr val="FDD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DA24"/>
                </a:solidFill>
              </a:defRPr>
            </a:pPr>
            <a:r>
              <a:t>GERENCIA DE EVOLUCIÓN CONTABLE Y TRIBUTARIA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Beneficios de Negocio y Hoja de Ruta Productiva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6B6B"/>
                </a:solidFill>
              </a:defRPr>
            </a:pPr>
            <a:r>
              <a:t>Conciliador de Facturas y Retenciones · Prueba Técnica Analista III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A29"/>
                </a:solidFill>
              </a:defRPr>
            </a:pPr>
            <a:r>
              <a:t>Beneficios Inmediatos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00875A"/>
                </a:solidFill>
              </a:defRPr>
            </a:pPr>
            <a:r>
              <a:t>✔  Eficiencia Operativa Extrema: </a:t>
            </a:r>
            <a:r>
              <a:rPr b="0">
                <a:solidFill>
                  <a:srgbClr val="2C2A29"/>
                </a:solidFill>
              </a:rPr>
              <a:t>Reducción del tiempo de cruce mensual de ~2 horas a menos de 1 segundo por lote.</a:t>
            </a:r>
          </a:p>
          <a:p>
            <a:pPr>
              <a:spcBef>
                <a:spcPts val="800"/>
              </a:spcBef>
              <a:defRPr b="1" sz="1200">
                <a:solidFill>
                  <a:srgbClr val="00875A"/>
                </a:solidFill>
              </a:defRPr>
            </a:pPr>
            <a:r>
              <a:t>✔  Cero Descuadres de Redondeo: </a:t>
            </a:r>
            <a:r>
              <a:rPr b="0">
                <a:solidFill>
                  <a:srgbClr val="2C2A29"/>
                </a:solidFill>
              </a:rPr>
              <a:t>Cálculo tributario exacto con Decimal, evitando diferencias acumuladas de centavos.</a:t>
            </a:r>
          </a:p>
          <a:p>
            <a:pPr>
              <a:spcBef>
                <a:spcPts val="800"/>
              </a:spcBef>
              <a:defRPr b="1" sz="1200">
                <a:solidFill>
                  <a:srgbClr val="00875A"/>
                </a:solidFill>
              </a:defRPr>
            </a:pPr>
            <a:r>
              <a:t>✔  Trazabilidad y Calidad: </a:t>
            </a:r>
            <a:r>
              <a:rPr b="0">
                <a:solidFill>
                  <a:srgbClr val="2C2A29"/>
                </a:solidFill>
              </a:rPr>
              <a:t>Exposición unívoca de causales y 64 pruebas automatizadas (43 backend + 21 frontend).</a:t>
            </a:r>
          </a:p>
          <a:p>
            <a:pPr>
              <a:spcBef>
                <a:spcPts val="800"/>
              </a:spcBef>
              <a:defRPr b="1" sz="1200">
                <a:solidFill>
                  <a:srgbClr val="00875A"/>
                </a:solidFill>
              </a:defRPr>
            </a:pPr>
            <a:r>
              <a:t>✔  Reducción de Riesgo Fiscal: </a:t>
            </a:r>
            <a:r>
              <a:rPr b="0">
                <a:solidFill>
                  <a:srgbClr val="2C2A29"/>
                </a:solidFill>
              </a:rPr>
              <a:t>Mitigación proactiva de sanciones por retenciones o IVA no concordante con contabilidad.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2A29"/>
                </a:solidFill>
              </a:defRPr>
            </a:pPr>
            <a:r>
              <a:t>Hoja de Ruta para Fase Productiva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00">
                <a:solidFill>
                  <a:srgbClr val="2C2A29"/>
                </a:solidFill>
              </a:defRPr>
            </a:pPr>
            <a:r>
              <a:t>➔  Paginación y Virtual Scrolling: </a:t>
            </a:r>
            <a:r>
              <a:rPr b="0">
                <a:solidFill>
                  <a:srgbClr val="6B6B6B"/>
                </a:solidFill>
              </a:rPr>
              <a:t>Soporte escalable para volúmenes superiores a 100.000 facturas mediante Server-Side Pagination.</a:t>
            </a:r>
          </a:p>
          <a:p>
            <a:pPr>
              <a:spcBef>
                <a:spcPts val="800"/>
              </a:spcBef>
              <a:defRPr b="1" sz="1200">
                <a:solidFill>
                  <a:srgbClr val="2C2A29"/>
                </a:solidFill>
              </a:defRPr>
            </a:pPr>
            <a:r>
              <a:t>➔  Persistencia Relacional: </a:t>
            </a:r>
            <a:r>
              <a:rPr b="0">
                <a:solidFill>
                  <a:srgbClr val="6B6B6B"/>
                </a:solidFill>
              </a:rPr>
              <a:t>Almacenamiento de cierres históricos en PostgreSQL o SQL Server con trazabilidad por analista.</a:t>
            </a:r>
          </a:p>
          <a:p>
            <a:pPr>
              <a:spcBef>
                <a:spcPts val="800"/>
              </a:spcBef>
              <a:defRPr b="1" sz="1200">
                <a:solidFill>
                  <a:srgbClr val="2C2A29"/>
                </a:solidFill>
              </a:defRPr>
            </a:pPr>
            <a:r>
              <a:t>➔  Exportación de Reportes: </a:t>
            </a:r>
            <a:r>
              <a:rPr b="0">
                <a:solidFill>
                  <a:srgbClr val="6B6B6B"/>
                </a:solidFill>
              </a:rPr>
              <a:t>Generación de informe de auditoría en Excel (.xlsx con formato corporativo) y PDF legal.</a:t>
            </a:r>
          </a:p>
          <a:p>
            <a:pPr>
              <a:spcBef>
                <a:spcPts val="800"/>
              </a:spcBef>
              <a:defRPr b="1" sz="1200">
                <a:solidFill>
                  <a:srgbClr val="2C2A29"/>
                </a:solidFill>
              </a:defRPr>
            </a:pPr>
            <a:r>
              <a:t>➔  Seguridad Empresarial: </a:t>
            </a:r>
            <a:r>
              <a:rPr b="0">
                <a:solidFill>
                  <a:srgbClr val="6B6B6B"/>
                </a:solidFill>
              </a:rPr>
              <a:t>Integración con Directorio Activo y Single Sign-On (SSO) bancario con perfiles de aprobación.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